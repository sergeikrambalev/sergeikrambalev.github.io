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C22AC1-9408-B9DC-AC80-F8991E45E5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45C2575-CEAB-785A-11A1-4F8574C0FD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754AE5-EECD-26D6-9F51-A6B4C4075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9F5126B-B932-2136-EFB8-016F2FC4D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38508B3-5B02-4124-C09B-34E45F6A0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8BFEF1-8ABD-4E7A-74CC-DD371BB51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B50C49-7B4A-4A67-EFC4-F93FCFDD1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085C2A-7308-963C-DBED-B864FACFE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3EFC4F-6FE9-2D98-A812-D03266F13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7CF19E-5366-9E56-0CAC-CF94827E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06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9AA3E3-F6A3-0852-A23B-21B2DD168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4B3D926-9DBA-BC3F-4D10-7409F981D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C7E6EF-DFC0-1CB1-3126-55BD5D9F8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44AE911-4653-9C9B-D90A-3773D1969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093B0E-A982-F880-568B-0EDD52D53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4196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DE2DCD-EB16-4543-6045-9A83C8C9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946090-DA5E-8948-7A14-88FC617D3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2CF0EE-E2EB-9319-1111-F476463FB2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97AC34-C4FD-8CB8-1F8C-79F3312A6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9EF52D-D9F0-038B-021C-4B15E07A6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490F4E9-40B0-54F0-2AF8-30BFEDCF1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5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71E0EB-764A-481C-0D9E-E704CC768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18D24EF-33D7-E732-5959-2D428D63C0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655EA3-7BED-6D77-0EF5-05F4D13DE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19CBF7-CA2E-271B-15AD-F3AB454CDD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D7C31F5-6D8E-6982-BD30-6ADB8E28DA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0015851-C05F-1772-484D-1FA63276F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53F4165-BA29-6979-E80D-CF037D9E3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962DAF5-AFFE-413B-205C-F753946C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34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F7C95-0F0F-01FC-E9A6-24AE542F1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BC57AB-5B46-66A9-6A26-7C8966C3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B0D1B5-2A50-0EC1-E439-80607DB6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A0438DB-294F-F739-6091-FA836FBDB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0333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BD86F2D-3954-22E3-BF9E-28003D89C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6A39AD-4D7C-42DC-D2F9-6B21808E6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B8F731-D7CD-3267-A57D-C0038929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3918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F9D0F-C969-5713-F29B-A6669428E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43EECA-276C-954F-EBCE-C8A31F8FC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77505C-2385-3E4C-3BBA-DAC5634A15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6AF099B-4D85-BA0B-091A-9ABFA769B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332EF96-CDFF-BFDD-D2DE-00A6B3B92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3DC24C-D2E3-E50D-B89F-7A1093565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220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CCFA80-7149-3DBC-DCBF-4420D5EC5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535D2A4-49F3-D117-F9D4-A6B0F432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D339E71-F20C-1681-AE59-344AAA85A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A4FD23-E121-B53B-D89A-DE51E565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31ACC74-08ED-45E5-423F-7CC826DD8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3F79958-DDA9-6A56-55D2-C7547042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0405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E295F-1007-88DF-8F58-6DB15EFA0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76F94B-6615-8AB4-D322-56ECEDD240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27CED2D-BF54-266D-0BDA-6F444A0DE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A65032-D525-B826-8BF4-F4160B2B3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AE3443-495A-E9D0-28E3-A703B5B1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358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FE218B-794B-3CFC-F31E-39AB52E33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DACEF82-2B78-AEB8-036C-CBA4D2879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C7A0042-AF6A-2EBA-08C1-F8A41527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B388F4-7148-5163-1BBD-0B2A3E480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E5E96A6-B2A6-3C54-C30C-7E05911F3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075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BFC65-2844-5D76-A638-B4CD05DE5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0F61AF-27F8-AFFC-F130-074C75CF8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7DDF81-57CA-6FFE-A7DF-E86CCE1D9D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5CE65-3904-4AE1-AF6F-EC38C30173AA}" type="datetimeFigureOut">
              <a:rPr lang="ru-RU" smtClean="0"/>
              <a:t>27.12.2025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D7D6AB9-E81A-8BC2-C748-0AC6A7485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72CFBD2-397A-C55E-4F52-8962AC7CAF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C56C83-4290-461A-AFFB-B8AA14D7EA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10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6.xml"/><Relationship Id="rId5" Type="http://schemas.openxmlformats.org/officeDocument/2006/relationships/slide" Target="slide7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DF2430-4D6C-D52C-6FAA-B645AE15E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524" y="352097"/>
            <a:ext cx="11177752" cy="1817798"/>
          </a:xfrm>
        </p:spPr>
        <p:txBody>
          <a:bodyPr>
            <a:normAutofit fontScale="90000"/>
          </a:bodyPr>
          <a:lstStyle/>
          <a:p>
            <a:pPr algn="l"/>
            <a:r>
              <a:rPr lang="ru-RU" dirty="0"/>
              <a:t>Алгоритмы работы при решении задач с выражениями и уравнениями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276F0FE-4AE5-87D4-F367-0C48912F2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53407" y="5425583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Крамбалев Сергей Дмитриевич,</a:t>
            </a:r>
          </a:p>
          <a:p>
            <a:pPr algn="r"/>
            <a:r>
              <a:rPr lang="ru-RU" dirty="0"/>
              <a:t>1об_ИВТ</a:t>
            </a:r>
            <a:r>
              <a:rPr lang="en-US" dirty="0"/>
              <a:t>/</a:t>
            </a:r>
            <a:r>
              <a:rPr lang="ru-RU" dirty="0"/>
              <a:t>25</a:t>
            </a:r>
          </a:p>
          <a:p>
            <a:pPr algn="r"/>
            <a:r>
              <a:rPr lang="en-US" dirty="0"/>
              <a:t>Maxima v5.48.1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5657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везда: 5 точек 8">
            <a:extLst>
              <a:ext uri="{FF2B5EF4-FFF2-40B4-BE49-F238E27FC236}">
                <a16:creationId xmlns:a16="http://schemas.microsoft.com/office/drawing/2014/main" id="{B9D79B98-DD90-B9C2-91F8-4010C2B5229B}"/>
              </a:ext>
            </a:extLst>
          </p:cNvPr>
          <p:cNvSpPr/>
          <p:nvPr/>
        </p:nvSpPr>
        <p:spPr>
          <a:xfrm rot="1534054">
            <a:off x="2005303" y="-390928"/>
            <a:ext cx="8674495" cy="6715185"/>
          </a:xfrm>
          <a:custGeom>
            <a:avLst/>
            <a:gdLst>
              <a:gd name="csX0" fmla="*/ 5 w 5067962"/>
              <a:gd name="csY0" fmla="*/ 1823374 h 4773668"/>
              <a:gd name="csX1" fmla="*/ 1935800 w 5067962"/>
              <a:gd name="csY1" fmla="*/ 1823387 h 4773668"/>
              <a:gd name="csX2" fmla="*/ 2533981 w 5067962"/>
              <a:gd name="csY2" fmla="*/ 0 h 4773668"/>
              <a:gd name="csX3" fmla="*/ 3132162 w 5067962"/>
              <a:gd name="csY3" fmla="*/ 1823387 h 4773668"/>
              <a:gd name="csX4" fmla="*/ 5067957 w 5067962"/>
              <a:gd name="csY4" fmla="*/ 1823374 h 4773668"/>
              <a:gd name="csX5" fmla="*/ 3501858 w 5067962"/>
              <a:gd name="csY5" fmla="*/ 2950277 h 4773668"/>
              <a:gd name="csX6" fmla="*/ 4100064 w 5067962"/>
              <a:gd name="csY6" fmla="*/ 4773656 h 4773668"/>
              <a:gd name="csX7" fmla="*/ 2533981 w 5067962"/>
              <a:gd name="csY7" fmla="*/ 3646733 h 4773668"/>
              <a:gd name="csX8" fmla="*/ 967898 w 5067962"/>
              <a:gd name="csY8" fmla="*/ 4773656 h 4773668"/>
              <a:gd name="csX9" fmla="*/ 1566104 w 5067962"/>
              <a:gd name="csY9" fmla="*/ 2950277 h 4773668"/>
              <a:gd name="csX10" fmla="*/ 5 w 5067962"/>
              <a:gd name="csY10" fmla="*/ 1823374 h 4773668"/>
              <a:gd name="csX0" fmla="*/ 0 w 6066780"/>
              <a:gd name="csY0" fmla="*/ 2219679 h 4773656"/>
              <a:gd name="csX1" fmla="*/ 2934623 w 6066780"/>
              <a:gd name="csY1" fmla="*/ 1823387 h 4773656"/>
              <a:gd name="csX2" fmla="*/ 3532804 w 6066780"/>
              <a:gd name="csY2" fmla="*/ 0 h 4773656"/>
              <a:gd name="csX3" fmla="*/ 4130985 w 6066780"/>
              <a:gd name="csY3" fmla="*/ 1823387 h 4773656"/>
              <a:gd name="csX4" fmla="*/ 6066780 w 6066780"/>
              <a:gd name="csY4" fmla="*/ 1823374 h 4773656"/>
              <a:gd name="csX5" fmla="*/ 4500681 w 6066780"/>
              <a:gd name="csY5" fmla="*/ 2950277 h 4773656"/>
              <a:gd name="csX6" fmla="*/ 5098887 w 6066780"/>
              <a:gd name="csY6" fmla="*/ 4773656 h 4773656"/>
              <a:gd name="csX7" fmla="*/ 3532804 w 6066780"/>
              <a:gd name="csY7" fmla="*/ 3646733 h 4773656"/>
              <a:gd name="csX8" fmla="*/ 1966721 w 6066780"/>
              <a:gd name="csY8" fmla="*/ 4773656 h 4773656"/>
              <a:gd name="csX9" fmla="*/ 2564927 w 6066780"/>
              <a:gd name="csY9" fmla="*/ 2950277 h 4773656"/>
              <a:gd name="csX10" fmla="*/ 0 w 6066780"/>
              <a:gd name="csY10" fmla="*/ 2219679 h 4773656"/>
              <a:gd name="csX0" fmla="*/ 0 w 6066780"/>
              <a:gd name="csY0" fmla="*/ 2791100 h 5345077"/>
              <a:gd name="csX1" fmla="*/ 2934623 w 6066780"/>
              <a:gd name="csY1" fmla="*/ 2394808 h 5345077"/>
              <a:gd name="csX2" fmla="*/ 5409082 w 6066780"/>
              <a:gd name="csY2" fmla="*/ 0 h 5345077"/>
              <a:gd name="csX3" fmla="*/ 4130985 w 6066780"/>
              <a:gd name="csY3" fmla="*/ 2394808 h 5345077"/>
              <a:gd name="csX4" fmla="*/ 6066780 w 6066780"/>
              <a:gd name="csY4" fmla="*/ 2394795 h 5345077"/>
              <a:gd name="csX5" fmla="*/ 4500681 w 6066780"/>
              <a:gd name="csY5" fmla="*/ 3521698 h 5345077"/>
              <a:gd name="csX6" fmla="*/ 5098887 w 6066780"/>
              <a:gd name="csY6" fmla="*/ 5345077 h 5345077"/>
              <a:gd name="csX7" fmla="*/ 3532804 w 6066780"/>
              <a:gd name="csY7" fmla="*/ 4218154 h 5345077"/>
              <a:gd name="csX8" fmla="*/ 1966721 w 6066780"/>
              <a:gd name="csY8" fmla="*/ 5345077 h 5345077"/>
              <a:gd name="csX9" fmla="*/ 2564927 w 6066780"/>
              <a:gd name="csY9" fmla="*/ 3521698 h 5345077"/>
              <a:gd name="csX10" fmla="*/ 0 w 6066780"/>
              <a:gd name="csY10" fmla="*/ 2791100 h 5345077"/>
              <a:gd name="csX0" fmla="*/ 0 w 7193880"/>
              <a:gd name="csY0" fmla="*/ 2791100 h 5345077"/>
              <a:gd name="csX1" fmla="*/ 2934623 w 7193880"/>
              <a:gd name="csY1" fmla="*/ 2394808 h 5345077"/>
              <a:gd name="csX2" fmla="*/ 5409082 w 7193880"/>
              <a:gd name="csY2" fmla="*/ 0 h 5345077"/>
              <a:gd name="csX3" fmla="*/ 4130985 w 7193880"/>
              <a:gd name="csY3" fmla="*/ 2394808 h 5345077"/>
              <a:gd name="csX4" fmla="*/ 7193880 w 7193880"/>
              <a:gd name="csY4" fmla="*/ 2461431 h 5345077"/>
              <a:gd name="csX5" fmla="*/ 4500681 w 7193880"/>
              <a:gd name="csY5" fmla="*/ 3521698 h 5345077"/>
              <a:gd name="csX6" fmla="*/ 5098887 w 7193880"/>
              <a:gd name="csY6" fmla="*/ 5345077 h 5345077"/>
              <a:gd name="csX7" fmla="*/ 3532804 w 7193880"/>
              <a:gd name="csY7" fmla="*/ 4218154 h 5345077"/>
              <a:gd name="csX8" fmla="*/ 1966721 w 7193880"/>
              <a:gd name="csY8" fmla="*/ 5345077 h 5345077"/>
              <a:gd name="csX9" fmla="*/ 2564927 w 7193880"/>
              <a:gd name="csY9" fmla="*/ 3521698 h 5345077"/>
              <a:gd name="csX10" fmla="*/ 0 w 7193880"/>
              <a:gd name="csY10" fmla="*/ 2791100 h 5345077"/>
              <a:gd name="csX0" fmla="*/ 0 w 7193880"/>
              <a:gd name="csY0" fmla="*/ 2791100 h 5597626"/>
              <a:gd name="csX1" fmla="*/ 2934623 w 7193880"/>
              <a:gd name="csY1" fmla="*/ 2394808 h 5597626"/>
              <a:gd name="csX2" fmla="*/ 5409082 w 7193880"/>
              <a:gd name="csY2" fmla="*/ 0 h 5597626"/>
              <a:gd name="csX3" fmla="*/ 4130985 w 7193880"/>
              <a:gd name="csY3" fmla="*/ 2394808 h 5597626"/>
              <a:gd name="csX4" fmla="*/ 7193880 w 7193880"/>
              <a:gd name="csY4" fmla="*/ 2461431 h 5597626"/>
              <a:gd name="csX5" fmla="*/ 4500681 w 7193880"/>
              <a:gd name="csY5" fmla="*/ 3521698 h 5597626"/>
              <a:gd name="csX6" fmla="*/ 4753662 w 7193880"/>
              <a:gd name="csY6" fmla="*/ 5597626 h 5597626"/>
              <a:gd name="csX7" fmla="*/ 3532804 w 7193880"/>
              <a:gd name="csY7" fmla="*/ 4218154 h 5597626"/>
              <a:gd name="csX8" fmla="*/ 1966721 w 7193880"/>
              <a:gd name="csY8" fmla="*/ 5345077 h 5597626"/>
              <a:gd name="csX9" fmla="*/ 2564927 w 7193880"/>
              <a:gd name="csY9" fmla="*/ 3521698 h 5597626"/>
              <a:gd name="csX10" fmla="*/ 0 w 7193880"/>
              <a:gd name="csY10" fmla="*/ 2791100 h 5597626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4383144 w 7446039"/>
              <a:gd name="csY3" fmla="*/ 2394808 h 5748345"/>
              <a:gd name="csX4" fmla="*/ 7446039 w 7446039"/>
              <a:gd name="csY4" fmla="*/ 2461431 h 5748345"/>
              <a:gd name="csX5" fmla="*/ 4752840 w 7446039"/>
              <a:gd name="csY5" fmla="*/ 3521698 h 5748345"/>
              <a:gd name="csX6" fmla="*/ 5005821 w 7446039"/>
              <a:gd name="csY6" fmla="*/ 5597626 h 5748345"/>
              <a:gd name="csX7" fmla="*/ 3784963 w 7446039"/>
              <a:gd name="csY7" fmla="*/ 4218154 h 5748345"/>
              <a:gd name="csX8" fmla="*/ 0 w 7446039"/>
              <a:gd name="csY8" fmla="*/ 5748345 h 5748345"/>
              <a:gd name="csX9" fmla="*/ 2817086 w 7446039"/>
              <a:gd name="csY9" fmla="*/ 3521698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4383144 w 7446039"/>
              <a:gd name="csY3" fmla="*/ 2394808 h 5748345"/>
              <a:gd name="csX4" fmla="*/ 7446039 w 7446039"/>
              <a:gd name="csY4" fmla="*/ 2461431 h 5748345"/>
              <a:gd name="csX5" fmla="*/ 4752840 w 7446039"/>
              <a:gd name="csY5" fmla="*/ 3521698 h 5748345"/>
              <a:gd name="csX6" fmla="*/ 5005821 w 7446039"/>
              <a:gd name="csY6" fmla="*/ 5597626 h 5748345"/>
              <a:gd name="csX7" fmla="*/ 3784963 w 7446039"/>
              <a:gd name="csY7" fmla="*/ 4218154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5052809 w 7446039"/>
              <a:gd name="csY3" fmla="*/ 2138506 h 5748345"/>
              <a:gd name="csX4" fmla="*/ 7446039 w 7446039"/>
              <a:gd name="csY4" fmla="*/ 2461431 h 5748345"/>
              <a:gd name="csX5" fmla="*/ 4752840 w 7446039"/>
              <a:gd name="csY5" fmla="*/ 3521698 h 5748345"/>
              <a:gd name="csX6" fmla="*/ 5005821 w 7446039"/>
              <a:gd name="csY6" fmla="*/ 5597626 h 5748345"/>
              <a:gd name="csX7" fmla="*/ 3784963 w 7446039"/>
              <a:gd name="csY7" fmla="*/ 4218154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5052809 w 7446039"/>
              <a:gd name="csY3" fmla="*/ 2138506 h 5748345"/>
              <a:gd name="csX4" fmla="*/ 7446039 w 7446039"/>
              <a:gd name="csY4" fmla="*/ 2461431 h 5748345"/>
              <a:gd name="csX5" fmla="*/ 4580916 w 7446039"/>
              <a:gd name="csY5" fmla="*/ 3405879 h 5748345"/>
              <a:gd name="csX6" fmla="*/ 5005821 w 7446039"/>
              <a:gd name="csY6" fmla="*/ 5597626 h 5748345"/>
              <a:gd name="csX7" fmla="*/ 3784963 w 7446039"/>
              <a:gd name="csY7" fmla="*/ 4218154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5052809 w 7446039"/>
              <a:gd name="csY3" fmla="*/ 2138506 h 5748345"/>
              <a:gd name="csX4" fmla="*/ 7446039 w 7446039"/>
              <a:gd name="csY4" fmla="*/ 2461431 h 5748345"/>
              <a:gd name="csX5" fmla="*/ 4580916 w 7446039"/>
              <a:gd name="csY5" fmla="*/ 3405879 h 5748345"/>
              <a:gd name="csX6" fmla="*/ 5005821 w 7446039"/>
              <a:gd name="csY6" fmla="*/ 5597626 h 5748345"/>
              <a:gd name="csX7" fmla="*/ 3136920 w 7446039"/>
              <a:gd name="csY7" fmla="*/ 4312644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5052809 w 7446039"/>
              <a:gd name="csY3" fmla="*/ 2138506 h 5748345"/>
              <a:gd name="csX4" fmla="*/ 7446039 w 7446039"/>
              <a:gd name="csY4" fmla="*/ 2461431 h 5748345"/>
              <a:gd name="csX5" fmla="*/ 4580916 w 7446039"/>
              <a:gd name="csY5" fmla="*/ 3405879 h 5748345"/>
              <a:gd name="csX6" fmla="*/ 5005821 w 7446039"/>
              <a:gd name="csY6" fmla="*/ 5597626 h 5748345"/>
              <a:gd name="csX7" fmla="*/ 3268188 w 7446039"/>
              <a:gd name="csY7" fmla="*/ 4063422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252159 w 7446039"/>
              <a:gd name="csY0" fmla="*/ 2791100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4775774 w 7446039"/>
              <a:gd name="csY3" fmla="*/ 2119579 h 5748345"/>
              <a:gd name="csX4" fmla="*/ 7446039 w 7446039"/>
              <a:gd name="csY4" fmla="*/ 2461431 h 5748345"/>
              <a:gd name="csX5" fmla="*/ 4580916 w 7446039"/>
              <a:gd name="csY5" fmla="*/ 3405879 h 5748345"/>
              <a:gd name="csX6" fmla="*/ 5005821 w 7446039"/>
              <a:gd name="csY6" fmla="*/ 5597626 h 5748345"/>
              <a:gd name="csX7" fmla="*/ 3268188 w 7446039"/>
              <a:gd name="csY7" fmla="*/ 4063422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252159 w 7446039"/>
              <a:gd name="csY10" fmla="*/ 2791100 h 5748345"/>
              <a:gd name="csX0" fmla="*/ 581491 w 7446039"/>
              <a:gd name="csY0" fmla="*/ 2371386 h 5748345"/>
              <a:gd name="csX1" fmla="*/ 3186782 w 7446039"/>
              <a:gd name="csY1" fmla="*/ 2394808 h 5748345"/>
              <a:gd name="csX2" fmla="*/ 5661241 w 7446039"/>
              <a:gd name="csY2" fmla="*/ 0 h 5748345"/>
              <a:gd name="csX3" fmla="*/ 4775774 w 7446039"/>
              <a:gd name="csY3" fmla="*/ 2119579 h 5748345"/>
              <a:gd name="csX4" fmla="*/ 7446039 w 7446039"/>
              <a:gd name="csY4" fmla="*/ 2461431 h 5748345"/>
              <a:gd name="csX5" fmla="*/ 4580916 w 7446039"/>
              <a:gd name="csY5" fmla="*/ 3405879 h 5748345"/>
              <a:gd name="csX6" fmla="*/ 5005821 w 7446039"/>
              <a:gd name="csY6" fmla="*/ 5597626 h 5748345"/>
              <a:gd name="csX7" fmla="*/ 3268188 w 7446039"/>
              <a:gd name="csY7" fmla="*/ 4063422 h 5748345"/>
              <a:gd name="csX8" fmla="*/ 0 w 7446039"/>
              <a:gd name="csY8" fmla="*/ 5748345 h 5748345"/>
              <a:gd name="csX9" fmla="*/ 2161811 w 7446039"/>
              <a:gd name="csY9" fmla="*/ 3491485 h 5748345"/>
              <a:gd name="csX10" fmla="*/ 581491 w 7446039"/>
              <a:gd name="csY10" fmla="*/ 2371386 h 5748345"/>
              <a:gd name="csX0" fmla="*/ 581491 w 7446039"/>
              <a:gd name="csY0" fmla="*/ 2312365 h 5689324"/>
              <a:gd name="csX1" fmla="*/ 3186782 w 7446039"/>
              <a:gd name="csY1" fmla="*/ 2335787 h 5689324"/>
              <a:gd name="csX2" fmla="*/ 5136042 w 7446039"/>
              <a:gd name="csY2" fmla="*/ 0 h 5689324"/>
              <a:gd name="csX3" fmla="*/ 4775774 w 7446039"/>
              <a:gd name="csY3" fmla="*/ 2060558 h 5689324"/>
              <a:gd name="csX4" fmla="*/ 7446039 w 7446039"/>
              <a:gd name="csY4" fmla="*/ 2402410 h 5689324"/>
              <a:gd name="csX5" fmla="*/ 4580916 w 7446039"/>
              <a:gd name="csY5" fmla="*/ 3346858 h 5689324"/>
              <a:gd name="csX6" fmla="*/ 5005821 w 7446039"/>
              <a:gd name="csY6" fmla="*/ 5538605 h 5689324"/>
              <a:gd name="csX7" fmla="*/ 3268188 w 7446039"/>
              <a:gd name="csY7" fmla="*/ 4004401 h 5689324"/>
              <a:gd name="csX8" fmla="*/ 0 w 7446039"/>
              <a:gd name="csY8" fmla="*/ 5689324 h 5689324"/>
              <a:gd name="csX9" fmla="*/ 2161811 w 7446039"/>
              <a:gd name="csY9" fmla="*/ 3432464 h 5689324"/>
              <a:gd name="csX10" fmla="*/ 581491 w 7446039"/>
              <a:gd name="csY10" fmla="*/ 2312365 h 56893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7446039" h="5689324">
                <a:moveTo>
                  <a:pt x="581491" y="2312365"/>
                </a:moveTo>
                <a:lnTo>
                  <a:pt x="3186782" y="2335787"/>
                </a:lnTo>
                <a:lnTo>
                  <a:pt x="5136042" y="0"/>
                </a:lnTo>
                <a:lnTo>
                  <a:pt x="4775774" y="2060558"/>
                </a:lnTo>
                <a:lnTo>
                  <a:pt x="7446039" y="2402410"/>
                </a:lnTo>
                <a:lnTo>
                  <a:pt x="4580916" y="3346858"/>
                </a:lnTo>
                <a:lnTo>
                  <a:pt x="5005821" y="5538605"/>
                </a:lnTo>
                <a:lnTo>
                  <a:pt x="3268188" y="4004401"/>
                </a:lnTo>
                <a:lnTo>
                  <a:pt x="0" y="5689324"/>
                </a:lnTo>
                <a:lnTo>
                  <a:pt x="2161811" y="3432464"/>
                </a:lnTo>
                <a:lnTo>
                  <a:pt x="581491" y="231236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E00E3B2B-A8D6-2D74-493F-1DC752F22B09}"/>
              </a:ext>
            </a:extLst>
          </p:cNvPr>
          <p:cNvGrpSpPr/>
          <p:nvPr/>
        </p:nvGrpSpPr>
        <p:grpSpPr>
          <a:xfrm>
            <a:off x="1453581" y="1108826"/>
            <a:ext cx="4214648" cy="398203"/>
            <a:chOff x="1545021" y="1181010"/>
            <a:chExt cx="4214648" cy="398203"/>
          </a:xfrm>
        </p:grpSpPr>
        <p:sp>
          <p:nvSpPr>
            <p:cNvPr id="10" name="Прямоугольник: скругленные углы 9">
              <a:extLst>
                <a:ext uri="{FF2B5EF4-FFF2-40B4-BE49-F238E27FC236}">
                  <a16:creationId xmlns:a16="http://schemas.microsoft.com/office/drawing/2014/main" id="{6D3069C1-4BC9-FD11-8D1D-9FE7F90F22E0}"/>
                </a:ext>
              </a:extLst>
            </p:cNvPr>
            <p:cNvSpPr/>
            <p:nvPr/>
          </p:nvSpPr>
          <p:spPr>
            <a:xfrm>
              <a:off x="1545021" y="1209881"/>
              <a:ext cx="4214648" cy="36933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4" name="TextBox 3">
              <a:hlinkClick r:id="rId2" action="ppaction://hlinksldjump"/>
              <a:extLst>
                <a:ext uri="{FF2B5EF4-FFF2-40B4-BE49-F238E27FC236}">
                  <a16:creationId xmlns:a16="http://schemas.microsoft.com/office/drawing/2014/main" id="{CDFE9D73-8E85-02D8-805B-559A544920D3}"/>
                </a:ext>
              </a:extLst>
            </p:cNvPr>
            <p:cNvSpPr txBox="1"/>
            <p:nvPr/>
          </p:nvSpPr>
          <p:spPr>
            <a:xfrm>
              <a:off x="1566041" y="1181010"/>
              <a:ext cx="4193628" cy="3357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/>
                <a:t>Упрощение алгебраических выражений</a:t>
              </a:r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88F8C44D-2192-E820-20C8-1BD7CEDFC4B2}"/>
              </a:ext>
            </a:extLst>
          </p:cNvPr>
          <p:cNvGrpSpPr/>
          <p:nvPr/>
        </p:nvGrpSpPr>
        <p:grpSpPr>
          <a:xfrm>
            <a:off x="672661" y="3605892"/>
            <a:ext cx="3507692" cy="646331"/>
            <a:chOff x="672661" y="3605892"/>
            <a:chExt cx="3507692" cy="646331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E7197D33-DDA5-B2CA-61AF-C269BDC93FFA}"/>
                </a:ext>
              </a:extLst>
            </p:cNvPr>
            <p:cNvSpPr/>
            <p:nvPr/>
          </p:nvSpPr>
          <p:spPr>
            <a:xfrm>
              <a:off x="735724" y="3690322"/>
              <a:ext cx="3389586" cy="51381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TextBox 4">
              <a:hlinkClick r:id="rId3" action="ppaction://hlinksldjump"/>
              <a:extLst>
                <a:ext uri="{FF2B5EF4-FFF2-40B4-BE49-F238E27FC236}">
                  <a16:creationId xmlns:a16="http://schemas.microsoft.com/office/drawing/2014/main" id="{2EA10C03-B63B-6816-92E8-CEB5BFF19001}"/>
                </a:ext>
              </a:extLst>
            </p:cNvPr>
            <p:cNvSpPr txBox="1"/>
            <p:nvPr/>
          </p:nvSpPr>
          <p:spPr>
            <a:xfrm>
              <a:off x="672661" y="3605892"/>
              <a:ext cx="350769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Раскрытие скобок,</a:t>
              </a:r>
            </a:p>
            <a:p>
              <a:pPr algn="ctr"/>
              <a:r>
                <a:rPr lang="ru-RU" dirty="0"/>
                <a:t>приведение подобных слагаемых</a:t>
              </a:r>
            </a:p>
          </p:txBody>
        </p:sp>
      </p:grp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0269D8D8-323A-C50E-1B56-4C49F7519F4E}"/>
              </a:ext>
            </a:extLst>
          </p:cNvPr>
          <p:cNvGrpSpPr/>
          <p:nvPr/>
        </p:nvGrpSpPr>
        <p:grpSpPr>
          <a:xfrm>
            <a:off x="7147035" y="1035725"/>
            <a:ext cx="2843792" cy="369332"/>
            <a:chOff x="7147035" y="1035725"/>
            <a:chExt cx="2843792" cy="369332"/>
          </a:xfrm>
        </p:grpSpPr>
        <p:sp>
          <p:nvSpPr>
            <p:cNvPr id="12" name="Прямоугольник: скругленные углы 11">
              <a:extLst>
                <a:ext uri="{FF2B5EF4-FFF2-40B4-BE49-F238E27FC236}">
                  <a16:creationId xmlns:a16="http://schemas.microsoft.com/office/drawing/2014/main" id="{8126B32E-731E-6CA4-DA33-FC9E72EBBFC8}"/>
                </a:ext>
              </a:extLst>
            </p:cNvPr>
            <p:cNvSpPr/>
            <p:nvPr/>
          </p:nvSpPr>
          <p:spPr>
            <a:xfrm>
              <a:off x="7147035" y="1035725"/>
              <a:ext cx="2843792" cy="36933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6" name="TextBox 5">
              <a:hlinkClick r:id="rId4" action="ppaction://hlinksldjump"/>
              <a:extLst>
                <a:ext uri="{FF2B5EF4-FFF2-40B4-BE49-F238E27FC236}">
                  <a16:creationId xmlns:a16="http://schemas.microsoft.com/office/drawing/2014/main" id="{8E8B5AE2-420E-04A8-964C-0358D020D96B}"/>
                </a:ext>
              </a:extLst>
            </p:cNvPr>
            <p:cNvSpPr txBox="1"/>
            <p:nvPr/>
          </p:nvSpPr>
          <p:spPr>
            <a:xfrm>
              <a:off x="7147035" y="1035725"/>
              <a:ext cx="28437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Разложение на множители</a:t>
              </a: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973683F5-30E5-5104-358F-9B5577F56F09}"/>
              </a:ext>
            </a:extLst>
          </p:cNvPr>
          <p:cNvGrpSpPr/>
          <p:nvPr/>
        </p:nvGrpSpPr>
        <p:grpSpPr>
          <a:xfrm>
            <a:off x="4572001" y="5373441"/>
            <a:ext cx="3541098" cy="646331"/>
            <a:chOff x="4572001" y="5373441"/>
            <a:chExt cx="3541098" cy="646331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8B1B6121-E399-4584-0376-A396E706B4FA}"/>
                </a:ext>
              </a:extLst>
            </p:cNvPr>
            <p:cNvSpPr/>
            <p:nvPr/>
          </p:nvSpPr>
          <p:spPr>
            <a:xfrm>
              <a:off x="4572001" y="5373441"/>
              <a:ext cx="3499944" cy="60169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7" name="TextBox 6">
              <a:hlinkClick r:id="rId5" action="ppaction://hlinksldjump"/>
              <a:extLst>
                <a:ext uri="{FF2B5EF4-FFF2-40B4-BE49-F238E27FC236}">
                  <a16:creationId xmlns:a16="http://schemas.microsoft.com/office/drawing/2014/main" id="{96C6CDE4-5B1F-8328-E99B-F21FDFD21716}"/>
                </a:ext>
              </a:extLst>
            </p:cNvPr>
            <p:cNvSpPr txBox="1"/>
            <p:nvPr/>
          </p:nvSpPr>
          <p:spPr>
            <a:xfrm>
              <a:off x="4572001" y="5373441"/>
              <a:ext cx="35410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Разложение рациональной дроби</a:t>
              </a:r>
            </a:p>
            <a:p>
              <a:pPr algn="ctr"/>
              <a:r>
                <a:rPr lang="ru-RU" dirty="0"/>
                <a:t>на простейшие дроби</a:t>
              </a:r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6E5C9CA0-C5BA-1822-252B-073C6109EDE0}"/>
              </a:ext>
            </a:extLst>
          </p:cNvPr>
          <p:cNvGrpSpPr/>
          <p:nvPr/>
        </p:nvGrpSpPr>
        <p:grpSpPr>
          <a:xfrm>
            <a:off x="8568694" y="3929058"/>
            <a:ext cx="2230576" cy="369332"/>
            <a:chOff x="8568694" y="3929058"/>
            <a:chExt cx="2230576" cy="369332"/>
          </a:xfrm>
        </p:grpSpPr>
        <p:sp>
          <p:nvSpPr>
            <p:cNvPr id="13" name="Прямоугольник: скругленные углы 12">
              <a:extLst>
                <a:ext uri="{FF2B5EF4-FFF2-40B4-BE49-F238E27FC236}">
                  <a16:creationId xmlns:a16="http://schemas.microsoft.com/office/drawing/2014/main" id="{FA8BB791-406E-9E75-AB0D-B05339DE43E8}"/>
                </a:ext>
              </a:extLst>
            </p:cNvPr>
            <p:cNvSpPr/>
            <p:nvPr/>
          </p:nvSpPr>
          <p:spPr>
            <a:xfrm>
              <a:off x="8568694" y="3929058"/>
              <a:ext cx="2230576" cy="369332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8" name="TextBox 7">
              <a:hlinkClick r:id="rId6" action="ppaction://hlinksldjump"/>
              <a:extLst>
                <a:ext uri="{FF2B5EF4-FFF2-40B4-BE49-F238E27FC236}">
                  <a16:creationId xmlns:a16="http://schemas.microsoft.com/office/drawing/2014/main" id="{18818163-B711-D86F-9883-17264CD4D22D}"/>
                </a:ext>
              </a:extLst>
            </p:cNvPr>
            <p:cNvSpPr txBox="1"/>
            <p:nvPr/>
          </p:nvSpPr>
          <p:spPr>
            <a:xfrm>
              <a:off x="8623738" y="3929058"/>
              <a:ext cx="21755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ru-RU" dirty="0"/>
                <a:t>Решение уравнений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2354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003D2-C84A-6045-650D-2001A3E2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Упрощение алгебраических выражений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7B9FA-BC86-FEF2-07D3-ACA100D0A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0185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rat(</a:t>
            </a:r>
            <a:r>
              <a:rPr lang="ru-RU" dirty="0"/>
              <a:t>выражение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ru-RU" dirty="0"/>
              <a:t>преобразует выражение в каноническую рациональную форму, представляя его как частное двух полиномов</a:t>
            </a:r>
            <a:r>
              <a:rPr lang="en-US" dirty="0"/>
              <a:t>;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963E9E-1615-D64C-3BCE-887B43A3F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935" y="3655704"/>
            <a:ext cx="7630275" cy="3143129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B017E661-7A16-1CDA-0ECB-965F2A35C5FC}"/>
              </a:ext>
            </a:extLst>
          </p:cNvPr>
          <p:cNvSpPr txBox="1">
            <a:spLocks/>
          </p:cNvSpPr>
          <p:nvPr/>
        </p:nvSpPr>
        <p:spPr>
          <a:xfrm>
            <a:off x="838198" y="3323349"/>
            <a:ext cx="366973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автоматически приводит коэффициенты к рациональному виду, устраняя иррациональности</a:t>
            </a:r>
          </a:p>
        </p:txBody>
      </p:sp>
    </p:spTree>
    <p:extLst>
      <p:ext uri="{BB962C8B-B14F-4D97-AF65-F5344CB8AC3E}">
        <p14:creationId xmlns:p14="http://schemas.microsoft.com/office/powerpoint/2010/main" val="2411399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EE5F69-AFF9-B5C6-C2C9-5CE642099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на множители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B2673A-EE54-4744-F64F-85D2B28D0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factor(</a:t>
            </a:r>
            <a:r>
              <a:rPr lang="ru-RU" dirty="0"/>
              <a:t>выражение)</a:t>
            </a:r>
          </a:p>
          <a:p>
            <a:pPr marL="0" indent="0">
              <a:buNone/>
            </a:pPr>
            <a:r>
              <a:rPr lang="ru-RU" dirty="0"/>
              <a:t>раскладывает число или многочлен на простые множители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402162-C188-01EA-E2EC-F77AE5815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502" y="2895601"/>
            <a:ext cx="3825031" cy="3863836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9A1D87DD-71EF-9076-3717-99E8516C4CCF}"/>
              </a:ext>
            </a:extLst>
          </p:cNvPr>
          <p:cNvSpPr txBox="1">
            <a:spLocks/>
          </p:cNvSpPr>
          <p:nvPr/>
        </p:nvSpPr>
        <p:spPr>
          <a:xfrm>
            <a:off x="838200" y="3139418"/>
            <a:ext cx="716542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для выражений с независимыми слагаемыми</a:t>
            </a:r>
            <a:r>
              <a:rPr lang="en-US" dirty="0"/>
              <a:t> </a:t>
            </a:r>
            <a:r>
              <a:rPr lang="ru-RU" dirty="0"/>
              <a:t>лучше использовать </a:t>
            </a:r>
            <a:r>
              <a:rPr lang="en-US" dirty="0" err="1"/>
              <a:t>factorsum</a:t>
            </a:r>
            <a:r>
              <a:rPr lang="en-US" dirty="0"/>
              <a:t>(</a:t>
            </a:r>
            <a:r>
              <a:rPr lang="ru-RU" dirty="0"/>
              <a:t>выражение)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8119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59123-D60C-C2E9-AF7B-C95379DD9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Раскрытие скобок, приведение подобных слагаемых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1AFCFC-CC3F-8737-CD41-C060149CF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5476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expand(</a:t>
            </a:r>
            <a:r>
              <a:rPr lang="ru-RU" dirty="0"/>
              <a:t>выражение)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раскрывает скобки, раскладывает выражения и приводит их к сумме слагаемых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для тригонометрических выражений надо использовать </a:t>
            </a:r>
            <a:r>
              <a:rPr lang="en-US" dirty="0" err="1"/>
              <a:t>trigexpand</a:t>
            </a:r>
            <a:r>
              <a:rPr lang="en-US" dirty="0"/>
              <a:t>(</a:t>
            </a:r>
            <a:r>
              <a:rPr lang="ru-RU" dirty="0"/>
              <a:t>выражение</a:t>
            </a:r>
            <a:r>
              <a:rPr lang="en-US" dirty="0"/>
              <a:t>)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A460B2-86E5-44CB-DA42-42FB3CDD5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737004"/>
            <a:ext cx="3762145" cy="3949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09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A2067-2E6B-76B8-29C0-84571B629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уравнений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AFD9E4-3B46-2EEA-0E3C-E95672E2D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6117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solve([</a:t>
            </a:r>
            <a:r>
              <a:rPr lang="ru-RU" dirty="0"/>
              <a:t>выражение1, выражение2, …</a:t>
            </a:r>
            <a:r>
              <a:rPr lang="en-US" dirty="0"/>
              <a:t>],[</a:t>
            </a:r>
            <a:r>
              <a:rPr lang="ru-RU" dirty="0"/>
              <a:t>переменная1, переменная2, …</a:t>
            </a:r>
            <a:r>
              <a:rPr lang="en-US" dirty="0"/>
              <a:t>])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C8251D0-AE0D-C443-7DBF-6B9430F46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203" y="2464685"/>
            <a:ext cx="4543172" cy="309004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снимок экрана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ED909B0-CA5D-D62A-6798-66667462C6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203" y="5689663"/>
            <a:ext cx="3243325" cy="1081108"/>
          </a:xfrm>
          <a:prstGeom prst="rect">
            <a:avLst/>
          </a:prstGeom>
        </p:spPr>
      </p:pic>
      <p:sp>
        <p:nvSpPr>
          <p:cNvPr id="8" name="Объект 2">
            <a:extLst>
              <a:ext uri="{FF2B5EF4-FFF2-40B4-BE49-F238E27FC236}">
                <a16:creationId xmlns:a16="http://schemas.microsoft.com/office/drawing/2014/main" id="{D6F9ED0D-CCFA-C357-632E-0BD68DB208D3}"/>
              </a:ext>
            </a:extLst>
          </p:cNvPr>
          <p:cNvSpPr txBox="1">
            <a:spLocks/>
          </p:cNvSpPr>
          <p:nvPr/>
        </p:nvSpPr>
        <p:spPr>
          <a:xfrm>
            <a:off x="838198" y="2419433"/>
            <a:ext cx="639291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решает уравнение (систему уравнений) относительно указанной переменной (переменных)</a:t>
            </a:r>
          </a:p>
        </p:txBody>
      </p:sp>
    </p:spTree>
    <p:extLst>
      <p:ext uri="{BB962C8B-B14F-4D97-AF65-F5344CB8AC3E}">
        <p14:creationId xmlns:p14="http://schemas.microsoft.com/office/powerpoint/2010/main" val="3673387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F5640-2C32-5ED5-9DF6-5C92761D2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Разложение рациональной дроби на простейшие дроби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C31E9F-F27F-17BA-D7B0-57225384A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25207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partfrac</a:t>
            </a:r>
            <a:r>
              <a:rPr lang="en-US" dirty="0"/>
              <a:t>(</a:t>
            </a:r>
            <a:r>
              <a:rPr lang="ru-RU" dirty="0"/>
              <a:t>выражение, переменная)</a:t>
            </a:r>
          </a:p>
          <a:p>
            <a:pPr marL="0" indent="0">
              <a:buNone/>
            </a:pPr>
            <a:r>
              <a:rPr lang="ru-RU" dirty="0"/>
              <a:t>раскладывает выражение на простейшие дроби по указанной переменной</a:t>
            </a:r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E5BB00-82E1-C587-D369-9826B62A8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149" y="3032234"/>
            <a:ext cx="5323904" cy="364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8932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173</Words>
  <Application>Microsoft Office PowerPoint</Application>
  <PresentationFormat>Широкоэкранный</PresentationFormat>
  <Paragraphs>31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Алгоритмы работы при решении задач с выражениями и уравнениями</vt:lpstr>
      <vt:lpstr>Презентация PowerPoint</vt:lpstr>
      <vt:lpstr>Упрощение алгебраических выражений</vt:lpstr>
      <vt:lpstr>Разложение на множители</vt:lpstr>
      <vt:lpstr>Раскрытие скобок, приведение подобных слагаемых</vt:lpstr>
      <vt:lpstr>Решение уравнений</vt:lpstr>
      <vt:lpstr>Разложение рациональной дроби на простейшие дроби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Krambalev Sergey</dc:creator>
  <cp:lastModifiedBy>Krambalev Sergey</cp:lastModifiedBy>
  <cp:revision>1</cp:revision>
  <dcterms:created xsi:type="dcterms:W3CDTF">2025-12-27T19:20:02Z</dcterms:created>
  <dcterms:modified xsi:type="dcterms:W3CDTF">2025-12-27T19:43:06Z</dcterms:modified>
</cp:coreProperties>
</file>