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91" d="100"/>
          <a:sy n="91" d="100"/>
        </p:scale>
        <p:origin x="33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5A12CE-851C-EC52-BE8A-6430F4BBF6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02AB3BE-9504-721C-F6C1-558C34A697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20BDA8-B0FA-7469-A6E9-335E70307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3D21-85B6-42D5-B732-44C5CDA913F7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4B0354-8741-032C-C527-89C4B60FA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06104F-2BC6-367F-BB81-931728AB6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C6676-E462-4CC0-9918-E2A5BDDC7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8564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874BF7-22F3-6D62-34AC-464C08689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69A34F-2D04-B47E-A63A-911617F81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B0C3E5-499D-4FE3-9354-781B0C1D9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3D21-85B6-42D5-B732-44C5CDA913F7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747D61-BFED-F79E-C6A5-50FD8A6AA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A9DF3F-3DBE-72D6-A97D-DBFBBFF47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C6676-E462-4CC0-9918-E2A5BDDC7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8445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845E66-079A-AAEC-624C-6CB74837D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420950-09A6-E7E1-4887-983975A0E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EAC92B-22AE-9F40-D75F-736842F6C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3D21-85B6-42D5-B732-44C5CDA913F7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4AC65C-A464-8650-20AF-5EE98B1CC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09FCF3-0188-013A-40ED-7706AD00B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C6676-E462-4CC0-9918-E2A5BDDC7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6653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858EBD-1243-2035-3048-88FFEF031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9AC2F8-AFB6-5007-1C18-CFAA20B364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8768BCD-1F15-B7B1-2217-A5683CA94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6316C48-0932-68EA-EE2E-A08B7B309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3D21-85B6-42D5-B732-44C5CDA913F7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1EF7FC0-0053-69BA-398A-6B22C127C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34E6DEB-C499-56A7-09FD-68FF7347B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C6676-E462-4CC0-9918-E2A5BDDC7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9713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950D9E-E426-239B-5E32-689C39C1B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EA61534-23AC-4153-74BA-96C459005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82F4AE3-20FB-A953-EF62-C88F8C27A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2840F0F-6B94-22AA-9928-0583E78F8B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E76C154-F8F6-B092-66C6-FAD7D40125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703C385-C7F0-DDE4-FD28-D462852CB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3D21-85B6-42D5-B732-44C5CDA913F7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24CFB0B-2B32-CDD8-428B-2622C8C05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329DD97-AB7F-E17D-E548-032B44FF2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C6676-E462-4CC0-9918-E2A5BDDC7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6383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D187D2-3535-CF32-6FDD-172491F5A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38A39E9-10AC-6B03-CE05-51A0B7E18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3D21-85B6-42D5-B732-44C5CDA913F7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1202737-20A3-FD02-8E5C-9E9FD0DFB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E6D6E85-8509-3D80-D643-61A0DCE22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C6676-E462-4CC0-9918-E2A5BDDC7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6641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2A6082C-9B3E-5301-6BBB-3FDB42FF7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3D21-85B6-42D5-B732-44C5CDA913F7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544D8F3-7F24-EBCA-CCEC-A82E7DF8E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CCEC12-7A1A-3BFE-73AF-468832E4D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C6676-E462-4CC0-9918-E2A5BDDC7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1810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9EA46F-29B3-6D52-7D22-029A2A21B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B00C0E-C134-8E15-1ACC-F56DEE220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F4870D2-2E87-008A-2A66-4C6E8AAF8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9495934-5E77-5C76-F2D1-B64BBDB61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3D21-85B6-42D5-B732-44C5CDA913F7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31DEF4A-2930-E24A-D84E-B98B9C61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E9841D-6F11-D3EF-3B32-44C708775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C6676-E462-4CC0-9918-E2A5BDDC7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4629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6E33E8-439C-26D9-66F8-41C3073CE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C7B4E6A-0967-C7A5-98F0-87A4E43E0A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CB35E76-8855-6AFE-9E55-CFC9F5364C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72B73A-FE36-9206-36D9-3AA6126DE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3D21-85B6-42D5-B732-44C5CDA913F7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988709-638F-74F9-978A-38301CD63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70D3A7-E1C8-FCD8-EBF4-FC1D1F34E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C6676-E462-4CC0-9918-E2A5BDDC7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1062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1453EA-BD07-B2EF-90DD-A144E4454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09E31FB-C523-AE5A-376B-7451671DEF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CBD578-ADB7-54A0-6F28-62D0483C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3D21-85B6-42D5-B732-44C5CDA913F7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7051AA-1253-6010-CF2F-BF5F3FEFA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95ADFD-0D5E-13EF-7135-789B13FD1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C6676-E462-4CC0-9918-E2A5BDDC7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1438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3B506A4-F66C-8BEF-9B40-ECD955ACE8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D2FB632-25F5-2F20-BB38-297299019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E5A13C-F05F-C87C-28BF-3A8FE591F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3D21-85B6-42D5-B732-44C5CDA913F7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6C3336-BA1A-BA05-7718-E2F949B5A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5E6BCC-0AD4-7FDF-D15C-2DC03B06A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C6676-E462-4CC0-9918-E2A5BDDC7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4971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D4C994-757C-97D4-056B-FA3F30E33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106DB6-EA7A-6270-623B-16294DB34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D7BBCF-E5E7-A150-570F-6C1A74B241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23D21-85B6-42D5-B732-44C5CDA913F7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AA619C-399B-1ED0-E1B1-9281C9D59D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AFD9AA-CE92-717A-223B-38554CDF6A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5C6676-E462-4CC0-9918-E2A5BDDC7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5451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87FE87-E75C-8511-2D26-816715FBD1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4440" y="2644227"/>
            <a:ext cx="11398469" cy="1569545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/>
              <a:t>Этапы решения задач с матрицами средствами электронных таблиц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A95057-E610-65F2-2E87-91500F859CDF}"/>
              </a:ext>
            </a:extLst>
          </p:cNvPr>
          <p:cNvSpPr txBox="1"/>
          <p:nvPr/>
        </p:nvSpPr>
        <p:spPr>
          <a:xfrm>
            <a:off x="194440" y="5565228"/>
            <a:ext cx="19273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Выполнил:</a:t>
            </a:r>
          </a:p>
          <a:p>
            <a:r>
              <a:rPr lang="ru-RU" dirty="0"/>
              <a:t>Крамбалев С.Д.</a:t>
            </a:r>
          </a:p>
          <a:p>
            <a:r>
              <a:rPr lang="ru-RU" dirty="0"/>
              <a:t>1об_ИВТ, </a:t>
            </a:r>
            <a:r>
              <a:rPr lang="ru-RU" dirty="0" err="1"/>
              <a:t>подгр</a:t>
            </a:r>
            <a:r>
              <a:rPr lang="ru-RU" dirty="0"/>
              <a:t>. 1</a:t>
            </a:r>
          </a:p>
        </p:txBody>
      </p:sp>
    </p:spTree>
    <p:extLst>
      <p:ext uri="{BB962C8B-B14F-4D97-AF65-F5344CB8AC3E}">
        <p14:creationId xmlns:p14="http://schemas.microsoft.com/office/powerpoint/2010/main" val="1257953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B4940E-CD66-886B-8388-B1BBC61A8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010" y="52934"/>
            <a:ext cx="11027979" cy="628103"/>
          </a:xfrm>
        </p:spPr>
        <p:txBody>
          <a:bodyPr>
            <a:normAutofit/>
          </a:bodyPr>
          <a:lstStyle/>
          <a:p>
            <a:r>
              <a:rPr lang="ru-RU" sz="3600" dirty="0"/>
              <a:t>1. Сложение и вычитание матриц, умножение на число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1B70AD-1221-6CD2-8758-4D1B41A6BEE0}"/>
              </a:ext>
            </a:extLst>
          </p:cNvPr>
          <p:cNvSpPr txBox="1"/>
          <p:nvPr/>
        </p:nvSpPr>
        <p:spPr>
          <a:xfrm>
            <a:off x="1902030" y="6435734"/>
            <a:ext cx="8387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Важно: при сложении и вычитании матриц они должны иметь одинаковый размер!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822437-8F08-B316-1E66-F37F4C23AF20}"/>
              </a:ext>
            </a:extLst>
          </p:cNvPr>
          <p:cNvSpPr txBox="1"/>
          <p:nvPr/>
        </p:nvSpPr>
        <p:spPr>
          <a:xfrm>
            <a:off x="483476" y="1376855"/>
            <a:ext cx="57386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Для сложения или вычитания матриц можно:</a:t>
            </a:r>
          </a:p>
          <a:p>
            <a:endParaRPr lang="ru-RU" dirty="0"/>
          </a:p>
          <a:p>
            <a:r>
              <a:rPr lang="ru-RU" dirty="0"/>
              <a:t>А) Записать в ячейку сумму левых верхних ячеек обеих матриц, затем автозаполнением растянуть полученный результат до размера исходных матриц.</a:t>
            </a:r>
          </a:p>
          <a:p>
            <a:endParaRPr lang="ru-RU" dirty="0"/>
          </a:p>
          <a:p>
            <a:r>
              <a:rPr lang="ru-RU" dirty="0"/>
              <a:t>Б) В выбранной ячейке вставить исходные матрицы в виде формулы, выделив диапазон их ячеек.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Аналогично для умножения матрицы на число</a:t>
            </a:r>
          </a:p>
          <a:p>
            <a:endParaRPr lang="ru-RU" dirty="0"/>
          </a:p>
          <a:p>
            <a:r>
              <a:rPr lang="ru-RU" dirty="0"/>
              <a:t>(не забыть сделать выбранное число абсолютной ссылкой, если оно находится в некоторой ячейке)</a:t>
            </a:r>
          </a:p>
        </p:txBody>
      </p:sp>
      <p:pic>
        <p:nvPicPr>
          <p:cNvPr id="7" name="Рисунок 6" descr="Изображение выглядит как снимок экрана, текст, линия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0A2AEA4-685D-3A75-F84A-46A975A08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541" y="4311275"/>
            <a:ext cx="6305525" cy="1644640"/>
          </a:xfrm>
          <a:prstGeom prst="rect">
            <a:avLst/>
          </a:prstGeom>
        </p:spPr>
      </p:pic>
      <p:pic>
        <p:nvPicPr>
          <p:cNvPr id="9" name="Рисунок 8" descr="Изображение выглядит как Шрифт, снимок экрана, часы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5CE520A-B5EC-F531-F3FD-75DC593CF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486" y="1945107"/>
            <a:ext cx="2943636" cy="657317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Шрифт, снимок экрана, текст, часы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C34AB74-883B-8783-3655-23908E090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54" y="3081289"/>
            <a:ext cx="3943900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379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11445-E613-54F7-8A89-9EE84BC89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1CF5A1-E521-AD80-D46E-845D36416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010" y="52934"/>
            <a:ext cx="11027979" cy="628103"/>
          </a:xfrm>
        </p:spPr>
        <p:txBody>
          <a:bodyPr>
            <a:normAutofit/>
          </a:bodyPr>
          <a:lstStyle/>
          <a:p>
            <a:r>
              <a:rPr lang="ru-RU" sz="3600" dirty="0"/>
              <a:t>2. Единичные матрицы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AFFD5D-0326-2CEE-EC02-D84E573C601B}"/>
              </a:ext>
            </a:extLst>
          </p:cNvPr>
          <p:cNvSpPr txBox="1"/>
          <p:nvPr/>
        </p:nvSpPr>
        <p:spPr>
          <a:xfrm>
            <a:off x="483476" y="1376855"/>
            <a:ext cx="651641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Для ввода единичной матрицы можно использовать функцию:</a:t>
            </a:r>
          </a:p>
          <a:p>
            <a:r>
              <a:rPr lang="ru-RU" b="1" dirty="0"/>
              <a:t>МЕДИН(</a:t>
            </a:r>
            <a:r>
              <a:rPr lang="en-US" b="1" dirty="0"/>
              <a:t>N)</a:t>
            </a:r>
          </a:p>
          <a:p>
            <a:r>
              <a:rPr lang="ru-RU" dirty="0"/>
              <a:t>где </a:t>
            </a:r>
            <a:r>
              <a:rPr lang="en-US" dirty="0"/>
              <a:t>N – </a:t>
            </a:r>
            <a:r>
              <a:rPr lang="ru-RU" dirty="0"/>
              <a:t>размер единичной матрицы.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Функцию можно вписать вручную, либо через вставку функций, раздел «Математические»:</a:t>
            </a:r>
          </a:p>
        </p:txBody>
      </p:sp>
      <p:pic>
        <p:nvPicPr>
          <p:cNvPr id="6" name="Рисунок 5" descr="Изображение выглядит как текст, снимок экрана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3EC6C90-BB56-4DE7-AA12-2197C6716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8111" y="608747"/>
            <a:ext cx="4079326" cy="2476268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электроника, снимок экрана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D78C257-57ED-0CD4-BBE6-6F3BCB677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052" y="3376066"/>
            <a:ext cx="3470314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862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9989C-E915-D531-4383-8CFE49FC5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3C6BC1-E4C2-D120-8290-C094B5A1B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010" y="52934"/>
            <a:ext cx="11027979" cy="628103"/>
          </a:xfrm>
        </p:spPr>
        <p:txBody>
          <a:bodyPr>
            <a:normAutofit/>
          </a:bodyPr>
          <a:lstStyle/>
          <a:p>
            <a:r>
              <a:rPr lang="ru-RU" sz="3600" dirty="0"/>
              <a:t>3. Умножение матриц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CF441A6-FB54-65A5-892F-474BE96643A6}"/>
                  </a:ext>
                </a:extLst>
              </p:cNvPr>
              <p:cNvSpPr txBox="1"/>
              <p:nvPr/>
            </p:nvSpPr>
            <p:spPr>
              <a:xfrm>
                <a:off x="1902030" y="6118383"/>
                <a:ext cx="71128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dirty="0"/>
                  <a:t>Важно: при умножении количество столбцов первой матрицы должно совпадать с количеством строк второй матрицы: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!</a:t>
                </a:r>
                <a:endParaRPr lang="ru-RU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CF441A6-FB54-65A5-892F-474BE96643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2030" y="6118383"/>
                <a:ext cx="7112878" cy="646331"/>
              </a:xfrm>
              <a:prstGeom prst="rect">
                <a:avLst/>
              </a:prstGeom>
              <a:blipFill>
                <a:blip r:embed="rId2"/>
                <a:stretch>
                  <a:fillRect l="-428" t="-5660" r="-1114" b="-141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EC8DF04-DA8B-1D39-52EA-00CD18B498C4}"/>
              </a:ext>
            </a:extLst>
          </p:cNvPr>
          <p:cNvSpPr txBox="1"/>
          <p:nvPr/>
        </p:nvSpPr>
        <p:spPr>
          <a:xfrm>
            <a:off x="483476" y="1376855"/>
            <a:ext cx="573864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Для умножение матриц можно использовать функцию:</a:t>
            </a:r>
          </a:p>
          <a:p>
            <a:r>
              <a:rPr lang="ru-RU" b="1" dirty="0"/>
              <a:t>МУМНОЖ(</a:t>
            </a:r>
            <a:r>
              <a:rPr lang="en-US" b="1" dirty="0"/>
              <a:t>A;B)</a:t>
            </a:r>
          </a:p>
          <a:p>
            <a:r>
              <a:rPr lang="ru-RU" dirty="0"/>
              <a:t>где </a:t>
            </a:r>
            <a:r>
              <a:rPr lang="en-US" dirty="0"/>
              <a:t>A, B – </a:t>
            </a:r>
            <a:r>
              <a:rPr lang="ru-RU" dirty="0"/>
              <a:t>матрицы (массивы).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Функцию можно вписать вручную, либо через вставку функций, раздел «Математические»:</a:t>
            </a:r>
          </a:p>
        </p:txBody>
      </p:sp>
      <p:pic>
        <p:nvPicPr>
          <p:cNvPr id="6" name="Рисунок 5" descr="Изображение выглядит как текст, снимок экрана, число, календар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BBFF46D-F5A6-7829-E2CA-C131F6887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723" y="689715"/>
            <a:ext cx="4056370" cy="2313371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электроника, снимок экрана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41B7A53-C8E5-8792-459D-1E11FBB943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824" y="3118648"/>
            <a:ext cx="2964119" cy="292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166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A3831-B13C-CAC8-DC2D-7B0E17697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B1B201-0D27-4A8E-4ED9-684DE72A4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010" y="52934"/>
            <a:ext cx="11027979" cy="628103"/>
          </a:xfrm>
        </p:spPr>
        <p:txBody>
          <a:bodyPr>
            <a:normAutofit/>
          </a:bodyPr>
          <a:lstStyle/>
          <a:p>
            <a:r>
              <a:rPr lang="ru-RU" sz="3600" dirty="0"/>
              <a:t>4. Транспонирование матриц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42ABE9-7EBD-0FF4-6F56-8C6BADE92B8C}"/>
              </a:ext>
            </a:extLst>
          </p:cNvPr>
          <p:cNvSpPr txBox="1"/>
          <p:nvPr/>
        </p:nvSpPr>
        <p:spPr>
          <a:xfrm>
            <a:off x="1902030" y="6118383"/>
            <a:ext cx="7112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Важно: в транспонированной матрице количество строк и столбцов меняются местами!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3CFCA1-5DEC-7EB9-484F-EC56567651D5}"/>
              </a:ext>
            </a:extLst>
          </p:cNvPr>
          <p:cNvSpPr txBox="1"/>
          <p:nvPr/>
        </p:nvSpPr>
        <p:spPr>
          <a:xfrm>
            <a:off x="483476" y="1376855"/>
            <a:ext cx="573864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Для транспонирования матриц можно использовать функцию:</a:t>
            </a:r>
          </a:p>
          <a:p>
            <a:r>
              <a:rPr lang="ru-RU" b="1" dirty="0"/>
              <a:t>ТРАНСП(</a:t>
            </a:r>
            <a:r>
              <a:rPr lang="en-US" b="1" dirty="0"/>
              <a:t>A)</a:t>
            </a:r>
          </a:p>
          <a:p>
            <a:r>
              <a:rPr lang="ru-RU" dirty="0"/>
              <a:t>где </a:t>
            </a:r>
            <a:r>
              <a:rPr lang="en-US" dirty="0"/>
              <a:t>A</a:t>
            </a:r>
            <a:r>
              <a:rPr lang="ru-RU" dirty="0"/>
              <a:t> </a:t>
            </a:r>
            <a:r>
              <a:rPr lang="en-US" dirty="0"/>
              <a:t>– </a:t>
            </a:r>
            <a:r>
              <a:rPr lang="ru-RU" dirty="0"/>
              <a:t>матрица (массив).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Функцию можно вписать вручную, либо через вставку функций, раздел «Ссылки и массивы»:</a:t>
            </a:r>
          </a:p>
        </p:txBody>
      </p:sp>
      <p:pic>
        <p:nvPicPr>
          <p:cNvPr id="7" name="Рисунок 6" descr="Изображение выглядит как текст, снимок экрана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3ABB675-4BAC-1F0B-6E8E-2C7837C8C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371" y="551379"/>
            <a:ext cx="3510452" cy="2672135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электроника, снимок экрана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84DCE97-0786-03E5-1C91-2A009AA5F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1879" y="3382783"/>
            <a:ext cx="2811436" cy="2781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267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9C29E-9A6C-D104-2C86-10D180A5A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9D29C1-118A-68D3-13E7-0E4957A04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010" y="52934"/>
            <a:ext cx="11027979" cy="628103"/>
          </a:xfrm>
        </p:spPr>
        <p:txBody>
          <a:bodyPr>
            <a:normAutofit/>
          </a:bodyPr>
          <a:lstStyle/>
          <a:p>
            <a:r>
              <a:rPr lang="ru-RU" sz="3600" dirty="0"/>
              <a:t>5. Вычисление определителя матриц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067126-7B95-66D1-7BBD-7165A425A27B}"/>
              </a:ext>
            </a:extLst>
          </p:cNvPr>
          <p:cNvSpPr txBox="1"/>
          <p:nvPr/>
        </p:nvSpPr>
        <p:spPr>
          <a:xfrm>
            <a:off x="1907285" y="6435734"/>
            <a:ext cx="7112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Важно: определитель считается только для квадратных матриц!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CEEC07-DF13-659D-F459-85DFC451A8D9}"/>
              </a:ext>
            </a:extLst>
          </p:cNvPr>
          <p:cNvSpPr txBox="1"/>
          <p:nvPr/>
        </p:nvSpPr>
        <p:spPr>
          <a:xfrm>
            <a:off x="483476" y="1376855"/>
            <a:ext cx="573864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Для вычисления определителя матриц можно использовать функцию:</a:t>
            </a:r>
          </a:p>
          <a:p>
            <a:r>
              <a:rPr lang="ru-RU" b="1" dirty="0"/>
              <a:t>МОПРЕД(</a:t>
            </a:r>
            <a:r>
              <a:rPr lang="en-US" b="1" dirty="0"/>
              <a:t>A</a:t>
            </a:r>
            <a:r>
              <a:rPr lang="ru-RU" b="1" dirty="0"/>
              <a:t>)</a:t>
            </a:r>
            <a:endParaRPr lang="en-US" b="1" dirty="0"/>
          </a:p>
          <a:p>
            <a:r>
              <a:rPr lang="ru-RU" dirty="0"/>
              <a:t>где </a:t>
            </a:r>
            <a:r>
              <a:rPr lang="en-US" dirty="0"/>
              <a:t>A</a:t>
            </a:r>
            <a:r>
              <a:rPr lang="ru-RU" dirty="0"/>
              <a:t> </a:t>
            </a:r>
            <a:r>
              <a:rPr lang="en-US" dirty="0"/>
              <a:t>– </a:t>
            </a:r>
            <a:r>
              <a:rPr lang="ru-RU" dirty="0"/>
              <a:t>матрица (массив).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Функцию можно вписать вручную, либо через вставку функций, раздел «Математические»:</a:t>
            </a:r>
          </a:p>
        </p:txBody>
      </p:sp>
      <p:pic>
        <p:nvPicPr>
          <p:cNvPr id="10" name="Рисунок 9" descr="Изображение выглядит как текст, электроника, снимок экрана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9DECA9C-5D58-D877-091D-8F0F67DE0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1832" y="3130232"/>
            <a:ext cx="3296661" cy="3218910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текст, снимок экрана, число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C87665F-3AB6-9C68-5AE5-DA9F61691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653" y="1231573"/>
            <a:ext cx="4739264" cy="1721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707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6E7A8-A17D-E85C-95CF-CA182F079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5E7FC1-61B0-122E-9D76-DFB717E0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010" y="52934"/>
            <a:ext cx="11027979" cy="628103"/>
          </a:xfrm>
        </p:spPr>
        <p:txBody>
          <a:bodyPr>
            <a:normAutofit/>
          </a:bodyPr>
          <a:lstStyle/>
          <a:p>
            <a:r>
              <a:rPr lang="ru-RU" sz="3600" dirty="0"/>
              <a:t>6. Нахождение обратной матрицы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01CE53-D4F6-86A8-EBD4-9E54752E5DEC}"/>
              </a:ext>
            </a:extLst>
          </p:cNvPr>
          <p:cNvSpPr txBox="1"/>
          <p:nvPr/>
        </p:nvSpPr>
        <p:spPr>
          <a:xfrm>
            <a:off x="1907285" y="6435734"/>
            <a:ext cx="7112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Важно: обратная матрица находится только для квадратных матриц!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22D53D-95CA-864B-F093-267BDC7B8E41}"/>
              </a:ext>
            </a:extLst>
          </p:cNvPr>
          <p:cNvSpPr txBox="1"/>
          <p:nvPr/>
        </p:nvSpPr>
        <p:spPr>
          <a:xfrm>
            <a:off x="483476" y="1376855"/>
            <a:ext cx="573864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Для нахождения обратной матрицы можно использовать функцию:</a:t>
            </a:r>
          </a:p>
          <a:p>
            <a:r>
              <a:rPr lang="ru-RU" b="1" dirty="0"/>
              <a:t>МОБР(</a:t>
            </a:r>
            <a:r>
              <a:rPr lang="en-US" b="1" dirty="0"/>
              <a:t>A)</a:t>
            </a:r>
          </a:p>
          <a:p>
            <a:r>
              <a:rPr lang="ru-RU" dirty="0"/>
              <a:t>где </a:t>
            </a:r>
            <a:r>
              <a:rPr lang="en-US" dirty="0"/>
              <a:t>A</a:t>
            </a:r>
            <a:r>
              <a:rPr lang="ru-RU" dirty="0"/>
              <a:t> </a:t>
            </a:r>
            <a:r>
              <a:rPr lang="en-US" dirty="0"/>
              <a:t>– </a:t>
            </a:r>
            <a:r>
              <a:rPr lang="ru-RU" dirty="0"/>
              <a:t>матрица (массив).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Функцию можно вписать вручную, либо через вставку функций, раздел «Математические»:</a:t>
            </a:r>
          </a:p>
        </p:txBody>
      </p:sp>
      <p:pic>
        <p:nvPicPr>
          <p:cNvPr id="7" name="Рисунок 6" descr="Изображение выглядит как текст, снимок экрана, число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28EC30C-BE90-260C-C46E-7060D8B63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2751" y="1137533"/>
            <a:ext cx="5487238" cy="1733382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дисплей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25EF920-215C-F5E7-9FB0-AE8B59951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3310" y="2997160"/>
            <a:ext cx="3395651" cy="3347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3412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357</Words>
  <Application>Microsoft Office PowerPoint</Application>
  <PresentationFormat>Широкоэкранный</PresentationFormat>
  <Paragraphs>79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Тема Office</vt:lpstr>
      <vt:lpstr>Этапы решения задач с матрицами средствами электронных таблиц</vt:lpstr>
      <vt:lpstr>1. Сложение и вычитание матриц, умножение на число</vt:lpstr>
      <vt:lpstr>2. Единичные матрицы</vt:lpstr>
      <vt:lpstr>3. Умножение матриц</vt:lpstr>
      <vt:lpstr>4. Транспонирование матриц</vt:lpstr>
      <vt:lpstr>5. Вычисление определителя матриц</vt:lpstr>
      <vt:lpstr>6. Нахождение обратной матрицы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Krambalev Sergey</dc:creator>
  <cp:lastModifiedBy>Krambalev Sergey</cp:lastModifiedBy>
  <cp:revision>1</cp:revision>
  <dcterms:created xsi:type="dcterms:W3CDTF">2025-12-20T11:51:25Z</dcterms:created>
  <dcterms:modified xsi:type="dcterms:W3CDTF">2025-12-20T12:18:38Z</dcterms:modified>
</cp:coreProperties>
</file>